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Cover</a:t>
            </a:r>
          </a:p>
          <a:p/>
          <a:p>
            <a:r>
              <a:t>Open with GramSeva as a proposed digital village governance platform. Emphasise one digital layer connecting citizen to state. Do NOT claim official endorsement.</a:t>
            </a:r>
          </a:p>
          <a:p/>
          <a:p>
            <a:r>
              <a:t>CAVEAT: Not an official Telangana Government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Human Problem</a:t>
            </a:r>
          </a:p>
          <a:p/>
          <a:p>
            <a:r>
              <a:t>Frame as opportunity. Do not criticise existing systems.</a:t>
            </a:r>
          </a:p>
          <a:p/>
          <a:p>
            <a:r>
              <a:t>CAVEAT: Not blaming government departments.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Big Idea</a:t>
            </a:r>
          </a:p>
          <a:p/>
          <a:p>
            <a:r>
              <a:t>One platform concept with modular services. All shown are prototype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Hero Workflow</a:t>
            </a:r>
          </a:p>
          <a:p/>
          <a:p>
            <a:r>
              <a:t>This is the core product story. Walk left to right in under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Product</a:t>
            </a:r>
          </a:p>
          <a:p/>
          <a:p>
            <a:r>
              <a:t>Show real prototype UI. Demo data only.</a:t>
            </a:r>
          </a:p>
          <a:p/>
          <a:p>
            <a:r>
              <a:t>CAVEAT: Screenshots are working prototype, not production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Telugu + AI</a:t>
            </a:r>
          </a:p>
          <a:p/>
          <a:p>
            <a:r>
              <a:t>Accessibility is the message.</a:t>
            </a:r>
          </a:p>
          <a:p/>
          <a:p>
            <a:r>
              <a:t>CAVEAT: AI-assisted prototype — not production NLP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— Official View</a:t>
            </a:r>
          </a:p>
          <a:p/>
          <a:p>
            <a:r>
              <a:t>Consolidated visibility for panchayat and admin roles.</a:t>
            </a:r>
          </a:p>
          <a:p/>
          <a:p>
            <a:r>
              <a:t>CAVEAT: KPI numbers are illustrative demo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— Accountability</a:t>
            </a:r>
          </a:p>
          <a:p/>
          <a:p>
            <a:r>
              <a:t>Audit trail is a governance differentiator.</a:t>
            </a:r>
          </a:p>
          <a:p/>
          <a:p>
            <a:r>
              <a:t>CAVEAT: Timeline implemented in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— Escalation</a:t>
            </a:r>
          </a:p>
          <a:p/>
          <a:p>
            <a:r>
              <a:t>Configurable rules for pilot evaluation.</a:t>
            </a:r>
          </a:p>
          <a:p/>
          <a:p>
            <a:r>
              <a:t>CAVEAT: Not claimed as official government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— Citizen Confirmation</a:t>
            </a:r>
          </a:p>
          <a:p/>
          <a:p>
            <a:r>
              <a:t>Major governance differentiator. Implemented in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— Village Outcomes</a:t>
            </a:r>
          </a:p>
          <a:p/>
          <a:p>
            <a:r>
              <a:t>Long-term vision: measure improvement.</a:t>
            </a:r>
          </a:p>
          <a:p/>
          <a:p>
            <a:r>
              <a:t>CAVEAT: All numbers are DEMO — not Telangana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— Telangana Scale</a:t>
            </a:r>
          </a:p>
          <a:p/>
          <a:p>
            <a:r>
              <a:t>Geography hierarchy implemented in prototype.</a:t>
            </a:r>
          </a:p>
          <a:p/>
          <a:p>
            <a:r>
              <a:t>CAVEAT: Telangana Admin map in full-stack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— Emergency</a:t>
            </a:r>
          </a:p>
          <a:p/>
          <a:p>
            <a:r>
              <a:t>Module implemented. Demo contacts in local mode.</a:t>
            </a:r>
          </a:p>
          <a:p/>
          <a:p>
            <a:r>
              <a:t>CAVEAT: Do not use unverified numbers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— News</a:t>
            </a:r>
          </a:p>
          <a:p/>
          <a:p>
            <a:r>
              <a:t>Clearly separate official vs external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— Welfare</a:t>
            </a:r>
          </a:p>
          <a:p/>
          <a:p>
            <a:r>
              <a:t>Hub exists. Eligibility engine is future.</a:t>
            </a:r>
          </a:p>
          <a:p/>
          <a:p>
            <a:r>
              <a:t>CAVEAT: Do not claim eligibility engine is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 — Vikas Sahayak</a:t>
            </a:r>
          </a:p>
          <a:p/>
          <a:p>
            <a:r>
              <a:t>Prototype requires API key.</a:t>
            </a:r>
          </a:p>
          <a:p/>
          <a:p>
            <a:r>
              <a:t>CAVEAT: Assistant, not decision-maker.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 — Ecosystem</a:t>
            </a:r>
          </a:p>
          <a:p/>
          <a:p>
            <a:r>
              <a:t>Breadth of modules in one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 — Technology</a:t>
            </a:r>
          </a:p>
          <a:p/>
          <a:p>
            <a:r>
              <a:t>One technical slide only. Credible but not developer-focused.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 — Trust</a:t>
            </a:r>
          </a:p>
          <a:p/>
          <a:p>
            <a:r>
              <a:t>Six pillars. No paragraphs 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 — Scale</a:t>
            </a:r>
          </a:p>
          <a:p/>
          <a:p>
            <a:r>
              <a:t>Design intent — not claimed as tested at state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 — Pilot</a:t>
            </a:r>
          </a:p>
          <a:p/>
          <a:p>
            <a:r>
              <a:t>Most important ask slide. NOT immediate statewide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 — KPIs</a:t>
            </a:r>
          </a:p>
          <a:p/>
          <a:p>
            <a:r>
              <a:t>Baseline established during Phase 1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 — Current Status</a:t>
            </a:r>
          </a:p>
          <a:p/>
          <a:p>
            <a:r>
              <a:t>Be honest. Do not overstate.</a:t>
            </a:r>
          </a:p>
          <a:p/>
          <a:p>
            <a:r>
              <a:t>CAVEAT: Prototype vs production clearly separated.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24 — Why GramSeva</a:t>
            </a:r>
          </a:p>
          <a:p/>
          <a:p>
            <a:r>
              <a:t>Five concise differentiators.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25 — Closing</a:t>
            </a:r>
          </a:p>
          <a:p/>
          <a:p>
            <a:r>
              <a:t>Vision statement. Invite pilot discussion.</a:t>
            </a:r>
          </a:p>
          <a:p/>
          <a:p>
            <a:r>
              <a:t>CAVEAT: Reiterate prototype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26 — Executive Summary</a:t>
            </a:r>
          </a:p>
          <a:p/>
          <a:p>
            <a:r>
              <a:t>Leave-behind overview for officials.</a:t>
            </a:r>
          </a:p>
          <a:p/>
          <a:p>
            <a:r>
              <a:t>CAVEAT: Appendix slide — optional for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7772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 i="0">
                <a:solidFill>
                  <a:srgbClr val="67001A"/>
                </a:solidFill>
                <a:latin typeface="Instrument Serif"/>
              </a:defRPr>
            </a:pPr>
            <a:r>
              <a:t>GRAMSEVA</a:t>
            </a:r>
          </a:p>
          <a:p>
            <a:pPr>
              <a:defRPr sz="2400" b="0" i="0">
                <a:solidFill>
                  <a:srgbClr val="1F2937"/>
                </a:solidFill>
                <a:latin typeface="Plus Jakarta Sans"/>
              </a:defRPr>
            </a:pPr>
            <a:r>
              <a:t>Digital Village Governance Platform for Telangana</a:t>
            </a:r>
          </a:p>
          <a:p>
            <a:pPr>
              <a:defRPr sz="1700" b="0" i="0">
                <a:solidFill>
                  <a:srgbClr val="64748B"/>
                </a:solidFill>
                <a:latin typeface="Plus Jakarta Sans"/>
              </a:defRPr>
            </a:pPr>
            <a:r>
              <a:t>Connecting citizens, Panchayats and administration through one digital experience.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4709160"/>
            <a:ext cx="182880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Citizen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3" y="481888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67001A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24328" y="4709160"/>
            <a:ext cx="182880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Panchayat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2272" y="481888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CCB252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54296" y="4709160"/>
            <a:ext cx="182880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Mandal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81888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CCB252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84264" y="4709160"/>
            <a:ext cx="182880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District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8" y="481888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CCB252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14232" y="4709160"/>
            <a:ext cx="182880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97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CCB252"/>
                </a:solidFill>
                <a:latin typeface="Plus Jakarta Sans"/>
              </a:defRPr>
            </a:pPr>
            <a:r>
              <a:t>PROTOTYPE CONCEPT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 i="0">
                <a:solidFill>
                  <a:srgbClr val="67001A"/>
                </a:solidFill>
                <a:latin typeface="Plus Jakarta Sans"/>
              </a:defRPr>
            </a:pPr>
            <a:r>
              <a:t>Village problems are simple to describe — but often complex to follow through.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965960"/>
            <a:ext cx="160020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03703" y="207568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67001A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22576" y="1965960"/>
            <a:ext cx="160020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07568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CCB252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50791" y="1965960"/>
            <a:ext cx="160020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Office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0136" y="207568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CCB252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79008" y="1965960"/>
            <a:ext cx="160020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8352" y="207568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CCB252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7224" y="1965960"/>
            <a:ext cx="160020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Follow-up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16568" y="207568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CCB252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965960"/>
            <a:ext cx="160020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Uncertainty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063240"/>
            <a:ext cx="10789920" cy="100584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400" b="0" i="0">
                <a:solidFill>
                  <a:srgbClr val="1F2937"/>
                </a:solidFill>
                <a:latin typeface="Plus Jakarta Sans"/>
              </a:defRPr>
            </a:pPr>
            <a:r>
              <a:t>Opportunity: create a clear digital path from reporting to resolution.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417320"/>
            <a:ext cx="3657600" cy="3200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Today</a:t>
            </a:r>
          </a:p>
          <a:p>
            <a:pPr>
              <a:defRPr sz="1400" b="0" i="0">
                <a:solidFill>
                  <a:srgbClr val="1F2937"/>
                </a:solidFill>
                <a:latin typeface="Plus Jakarta Sans"/>
              </a:defRPr>
            </a:pPr>
            <a:r>
              <a:t>Phone</a:t>
            </a:r>
            <a:br/>
            <a:r>
              <a:t>Office visit</a:t>
            </a:r>
            <a:br/>
            <a:r>
              <a:t>Paper forms</a:t>
            </a:r>
            <a:br/>
            <a:r>
              <a:t>Messages</a:t>
            </a:r>
            <a:br/>
            <a:r>
              <a:t>Informal channels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2/26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 i="0">
                <a:solidFill>
                  <a:srgbClr val="67001A"/>
                </a:solidFill>
                <a:latin typeface="Plus Jakarta Sans"/>
              </a:defRPr>
            </a:pPr>
            <a:r>
              <a:t>GramSeva creates one digital layer around village governance.</a:t>
            </a:r>
          </a:p>
        </p:txBody>
      </p:sp>
      <p:sp>
        <p:nvSpPr>
          <p:cNvPr id="4" name="Oval 3"/>
          <p:cNvSpPr/>
          <p:nvPr/>
        </p:nvSpPr>
        <p:spPr>
          <a:xfrm>
            <a:off x="5074920" y="2514600"/>
            <a:ext cx="2011680" cy="2011680"/>
          </a:xfrm>
          <a:prstGeom prst="ellipse">
            <a:avLst/>
          </a:prstGeom>
          <a:solidFill>
            <a:srgbClr val="67001A"/>
          </a:solidFill>
          <a:ln w="31750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 i="0">
                <a:solidFill>
                  <a:srgbClr val="FFFFFF"/>
                </a:solidFill>
                <a:latin typeface="Plus Jakarta Sans"/>
              </a:defRPr>
            </a:pPr>
            <a:r>
              <a:t>GramSeva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1252728"/>
            <a:ext cx="1737360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Grievances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39762" y="1841935"/>
            <a:ext cx="1737360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Panchayat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3264408"/>
            <a:ext cx="1737360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Welfare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39762" y="4686880"/>
            <a:ext cx="1737360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Emergency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5276088"/>
            <a:ext cx="1737360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News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4397" y="4686880"/>
            <a:ext cx="1737360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264408"/>
            <a:ext cx="1737360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Citizen 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4397" y="1841935"/>
            <a:ext cx="1737360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Village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3/26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67001A"/>
                </a:solidFill>
                <a:latin typeface="Plus Jakarta Sans"/>
              </a:defRPr>
            </a:pPr>
            <a:r>
              <a:t>From a citizen's voice to a measurable resolution.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74519"/>
            <a:ext cx="1298448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Citizen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874519"/>
            <a:ext cx="1298448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Report</a:t>
            </a:r>
          </a:p>
          <a:p>
            <a:pPr>
              <a:defRPr sz="900" b="0" i="0">
                <a:solidFill>
                  <a:srgbClr val="1F2937"/>
                </a:solidFill>
                <a:latin typeface="Plus Jakarta Sans"/>
              </a:defRPr>
            </a:pPr>
            <a:r>
              <a:t>Voice / Text / Photo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874519"/>
            <a:ext cx="1298448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Understand</a:t>
            </a:r>
          </a:p>
          <a:p>
            <a:pPr>
              <a:defRPr sz="900" b="0" i="0">
                <a:solidFill>
                  <a:srgbClr val="1F2937"/>
                </a:solidFill>
                <a:latin typeface="Plus Jakarta Sans"/>
              </a:defRPr>
            </a:pPr>
            <a:r>
              <a:t>Category + Priority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74519"/>
            <a:ext cx="1298448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Route</a:t>
            </a:r>
          </a:p>
          <a:p>
            <a:pPr>
              <a:defRPr sz="900" b="0" i="0">
                <a:solidFill>
                  <a:srgbClr val="1F2937"/>
                </a:solidFill>
                <a:latin typeface="Plus Jakarta Sans"/>
              </a:defRPr>
            </a:pPr>
            <a:r>
              <a:t>Village + Dept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59" y="1874519"/>
            <a:ext cx="1298448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Assign</a:t>
            </a:r>
          </a:p>
          <a:p>
            <a:pPr>
              <a:defRPr sz="900" b="0" i="0">
                <a:solidFill>
                  <a:srgbClr val="1F2937"/>
                </a:solidFill>
                <a:latin typeface="Plus Jakarta Sans"/>
              </a:defRPr>
            </a:pPr>
            <a:r>
              <a:t>Responsible official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874519"/>
            <a:ext cx="1298448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Resolve</a:t>
            </a:r>
          </a:p>
          <a:p>
            <a:pPr>
              <a:defRPr sz="900" b="0" i="0">
                <a:solidFill>
                  <a:srgbClr val="1F2937"/>
                </a:solidFill>
                <a:latin typeface="Plus Jakarta Sans"/>
              </a:defRPr>
            </a:pPr>
            <a:r>
              <a:t>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874519"/>
            <a:ext cx="1298448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Confirm</a:t>
            </a:r>
          </a:p>
          <a:p>
            <a:pPr>
              <a:defRPr sz="900" b="0" i="0">
                <a:solidFill>
                  <a:srgbClr val="1F2937"/>
                </a:solidFill>
                <a:latin typeface="Plus Jakarta Sans"/>
              </a:defRPr>
            </a:pPr>
            <a:r>
              <a:t>Citizen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20" y="1874519"/>
            <a:ext cx="1298448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Measure</a:t>
            </a:r>
          </a:p>
          <a:p>
            <a:pPr>
              <a:defRPr sz="900" b="0" i="0">
                <a:solidFill>
                  <a:srgbClr val="1F2937"/>
                </a:solidFill>
                <a:latin typeface="Plus Jakarta Sans"/>
              </a:defRPr>
            </a:pPr>
            <a:r>
              <a:t>Village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4/26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67001A"/>
                </a:solidFill>
                <a:latin typeface="Plus Jakarta Sans"/>
              </a:defRPr>
            </a:pPr>
            <a:r>
              <a:t>One citizen. One village context. One simple experience.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4389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Report a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39112"/>
            <a:ext cx="4389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Track my issue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60904"/>
            <a:ext cx="4389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Emergency help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282696"/>
            <a:ext cx="4389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Welfare schemes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904488"/>
            <a:ext cx="4389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Village news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526280"/>
            <a:ext cx="4389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Ask Vikas Sahayak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88352" y="1124712"/>
            <a:ext cx="4059936" cy="5157216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98280" y="1197864"/>
            <a:ext cx="640080" cy="109728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79" y="1234440"/>
            <a:ext cx="384048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-home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280160"/>
            <a:ext cx="3749040" cy="4846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43800" y="10241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008A3B"/>
                </a:solidFill>
                <a:latin typeface="Plus Jakarta Sans"/>
              </a:defRPr>
            </a:pPr>
            <a:r>
              <a:t>WORKING 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5/26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67001A"/>
                </a:solidFill>
                <a:latin typeface="Plus Jakarta Sans"/>
              </a:defRPr>
            </a:pPr>
            <a:r>
              <a:t>Digital governance should speak the citizen's language.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1078992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Telugu voice / text</a:t>
            </a:r>
          </a:p>
          <a:p>
            <a:pPr>
              <a:defRPr sz="1400" b="0" i="0">
                <a:solidFill>
                  <a:srgbClr val="1F2937"/>
                </a:solidFill>
                <a:latin typeface="Plus Jakarta Sans"/>
              </a:defRPr>
            </a:pPr>
            <a:r>
              <a:t>"మా వీధిలో మూడు రోజులుగా తాగునీరు రావడం లేదు"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606040"/>
            <a:ext cx="320040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AI-assisted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3904" y="271576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67001A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22776" y="2606040"/>
            <a:ext cx="320040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Water · High Priority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71576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CCB252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51192" y="2606040"/>
            <a:ext cx="320040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Ward / Village 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204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C98A00"/>
                </a:solidFill>
                <a:latin typeface="Plus Jakarta Sans"/>
              </a:defRPr>
            </a:pPr>
            <a:r>
              <a:t>AI-ASSISTED PROTOTYPE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794760"/>
            <a:ext cx="10789920" cy="594360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C9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400" b="0" i="0">
                <a:solidFill>
                  <a:srgbClr val="1F2937"/>
                </a:solidFill>
                <a:latin typeface="Plus Jakarta Sans"/>
              </a:defRPr>
            </a:pPr>
            <a:r>
              <a:t>Do not claim production AI accuracy. Prototype requires API configuration.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6/26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67001A"/>
                </a:solidFill>
                <a:latin typeface="Plus Jakarta Sans"/>
              </a:defRPr>
            </a:pPr>
            <a:r>
              <a:t>Officials see what needs attention — at a glance.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196596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Open</a:t>
            </a:r>
          </a:p>
          <a:p>
            <a:pPr>
              <a:defRPr sz="2200" b="0" i="0">
                <a:solidFill>
                  <a:srgbClr val="1F2937"/>
                </a:solidFill>
                <a:latin typeface="Plus Jakarta Sans"/>
              </a:defRPr>
            </a:pPr>
            <a: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05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C98A00"/>
                </a:solidFill>
                <a:latin typeface="Plus Jakarta Sans"/>
              </a:defRPr>
            </a:pPr>
            <a:r>
              <a:t>ILLUSTRATIVE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417320"/>
            <a:ext cx="196596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In Progress</a:t>
            </a:r>
          </a:p>
          <a:p>
            <a:pPr>
              <a:defRPr sz="2200" b="0" i="0">
                <a:solidFill>
                  <a:srgbClr val="1F2937"/>
                </a:solidFill>
                <a:latin typeface="Plus Jakarta Sans"/>
              </a:defRPr>
            </a:pPr>
            <a: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1305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C98A00"/>
                </a:solidFill>
                <a:latin typeface="Plus Jakarta Sans"/>
              </a:defRPr>
            </a:pPr>
            <a:r>
              <a:t>ILLUSTRATIVE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417320"/>
            <a:ext cx="196596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Resolved</a:t>
            </a:r>
          </a:p>
          <a:p>
            <a:pPr>
              <a:defRPr sz="2200" b="0" i="0">
                <a:solidFill>
                  <a:srgbClr val="1F2937"/>
                </a:solidFill>
                <a:latin typeface="Plus Jakarta Sans"/>
              </a:defRPr>
            </a:pPr>
            <a:r>
              <a:t>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1305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C98A00"/>
                </a:solidFill>
                <a:latin typeface="Plus Jakarta Sans"/>
              </a:defRPr>
            </a:pPr>
            <a:r>
              <a:t>ILLUSTRATIVE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1417320"/>
            <a:ext cx="196596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SLA Risk</a:t>
            </a:r>
          </a:p>
          <a:p>
            <a:pPr>
              <a:defRPr sz="2200" b="0" i="0">
                <a:solidFill>
                  <a:srgbClr val="1F2937"/>
                </a:solidFill>
                <a:latin typeface="Plus Jakarta Sans"/>
              </a:defRPr>
            </a:pPr>
            <a:r>
              <a:t>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305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C98A00"/>
                </a:solidFill>
                <a:latin typeface="Plus Jakarta Sans"/>
              </a:defRPr>
            </a:pPr>
            <a:r>
              <a:t>ILLUSTRATIVE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417320"/>
            <a:ext cx="196596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Critical</a:t>
            </a:r>
          </a:p>
          <a:p>
            <a:pPr>
              <a:defRPr sz="2200" b="0" i="0">
                <a:solidFill>
                  <a:srgbClr val="1F2937"/>
                </a:solidFill>
                <a:latin typeface="Plus Jakarta Sans"/>
              </a:defRPr>
            </a:pPr>
            <a:r>
              <a:t>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1305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C98A00"/>
                </a:solidFill>
                <a:latin typeface="Plus Jakarta Sans"/>
              </a:defRPr>
            </a:pPr>
            <a:r>
              <a:t>ILLUSTRATIVE</a:t>
            </a:r>
          </a:p>
        </p:txBody>
      </p:sp>
      <p:pic>
        <p:nvPicPr>
          <p:cNvPr id="14" name="Picture 13" descr="07-offici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606040"/>
            <a:ext cx="6858000" cy="3246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360" y="235000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008A3B"/>
                </a:solidFill>
                <a:latin typeface="Plus Jakarta Sans"/>
              </a:defRPr>
            </a:pPr>
            <a:r>
              <a:t>WORKING PROTOTYPE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606040"/>
            <a:ext cx="3749039" cy="3246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Priority queue (DEMO)</a:t>
            </a:r>
          </a:p>
          <a:p>
            <a:pPr>
              <a:defRPr sz="1200" b="0" i="0">
                <a:solidFill>
                  <a:srgbClr val="1F2937"/>
                </a:solidFill>
                <a:latin typeface="Plus Jakarta Sans"/>
              </a:defRPr>
            </a:pPr>
            <a:r>
              <a:t>Water · Ward 4 · 18h · At risk</a:t>
            </a:r>
            <a:br/>
            <a:r>
              <a:t>Roads · Ward 2 · 6h · In progress</a:t>
            </a:r>
            <a:br/>
            <a:r>
              <a:t>Sanitation · Ward 7 · 2d · SLA breach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7/26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67001A"/>
                </a:solidFill>
                <a:latin typeface="Plus Jakarta Sans"/>
              </a:defRPr>
            </a:pPr>
            <a:r>
              <a:t>Every issue has a visible owner, status and next step.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28800"/>
            <a:ext cx="14173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Submitted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47672" y="1828800"/>
            <a:ext cx="14173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Acknowledged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3863" y="1828800"/>
            <a:ext cx="14173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Assigned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0055" y="1828800"/>
            <a:ext cx="14173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9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In Progress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56247" y="1828800"/>
            <a:ext cx="14173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9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828800"/>
            <a:ext cx="14173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Resolved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28632" y="1828800"/>
            <a:ext cx="14173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Citizen Confirmed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880360"/>
            <a:ext cx="1078992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400" b="0" i="0">
                <a:solidFill>
                  <a:srgbClr val="1F2937"/>
                </a:solidFill>
                <a:latin typeface="Plus Jakarta Sans"/>
              </a:defRPr>
            </a:pPr>
            <a:r>
              <a:t>Actor · Role · Timestamp · Action · Previous state → New state</a:t>
            </a:r>
          </a:p>
        </p:txBody>
      </p:sp>
      <p:pic>
        <p:nvPicPr>
          <p:cNvPr id="12" name="Picture 11" descr="03-issues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3977639"/>
            <a:ext cx="2926080" cy="2148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12480" y="3721607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008A3B"/>
                </a:solidFill>
                <a:latin typeface="Plus Jakarta Sans"/>
              </a:defRPr>
            </a:pPr>
            <a:r>
              <a:t>PROTOTYPE 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8/26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67001A"/>
                </a:solidFill>
                <a:latin typeface="Plus Jakarta Sans"/>
              </a:defRPr>
            </a:pPr>
            <a:r>
              <a:t>When action is delayed, the workflow can escalate.</a:t>
            </a:r>
          </a:p>
          <a:p>
            <a:pPr>
              <a:spcBef>
                <a:spcPts val="600"/>
              </a:spcBef>
              <a:defRPr sz="1800" b="0" i="0">
                <a:solidFill>
                  <a:srgbClr val="64748B"/>
                </a:solidFill>
                <a:latin typeface="Plus Jakarta Sans"/>
              </a:defRPr>
            </a:pPr>
            <a:r>
              <a:t>Proposed configurable workflow — not official Telangana policy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828800"/>
            <a:ext cx="25603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9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06440" y="257860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 i="0">
                <a:solidFill>
                  <a:srgbClr val="C98A00"/>
                </a:solidFill>
                <a:latin typeface="Plus Jakarta Sans"/>
              </a:defRPr>
            </a:pPr>
            <a:r>
              <a:t>↓ Escalate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788920"/>
            <a:ext cx="25603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9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Panchayat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3538727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 i="0">
                <a:solidFill>
                  <a:srgbClr val="C62828"/>
                </a:solidFill>
                <a:latin typeface="Plus Jakarta Sans"/>
              </a:defRPr>
            </a:pPr>
            <a:r>
              <a:t>↓ Escalate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749039"/>
            <a:ext cx="25603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Mandal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449884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 i="0">
                <a:solidFill>
                  <a:srgbClr val="C62828"/>
                </a:solidFill>
                <a:latin typeface="Plus Jakarta Sans"/>
              </a:defRPr>
            </a:pPr>
            <a:r>
              <a:t>↓ Escalate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4709159"/>
            <a:ext cx="25603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District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3657600" cy="3200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SLA signals</a:t>
            </a:r>
          </a:p>
          <a:p>
            <a:pPr>
              <a:defRPr sz="1400" b="0" i="0">
                <a:solidFill>
                  <a:srgbClr val="1F2937"/>
                </a:solidFill>
                <a:latin typeface="Plus Jakarta Sans"/>
              </a:defRPr>
            </a:pPr>
            <a:r>
              <a:t>Within SLA</a:t>
            </a:r>
            <a:br/>
            <a:r>
              <a:t>Approaching deadline</a:t>
            </a:r>
            <a:br/>
            <a:r>
              <a:t>SLA breached</a:t>
            </a:r>
            <a:br/>
            <a:r>
              <a:t>→ Next level notified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9/26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 i="0">
                <a:solidFill>
                  <a:srgbClr val="67001A"/>
                </a:solidFill>
                <a:latin typeface="Plus Jakarta Sans"/>
              </a:defRPr>
            </a:pPr>
            <a:r>
              <a:t>Resolved by the system is not the same as resolved for the citizen.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384048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OFFICIAL</a:t>
            </a:r>
          </a:p>
          <a:p>
            <a:pPr>
              <a:defRPr sz="1400" b="0" i="0">
                <a:solidFill>
                  <a:srgbClr val="1F2937"/>
                </a:solidFill>
                <a:latin typeface="Plus Jakarta Sans"/>
              </a:defRPr>
            </a:pPr>
            <a:r>
              <a:t>"Marked Resolved"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828800"/>
            <a:ext cx="384048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CITIZEN</a:t>
            </a:r>
          </a:p>
          <a:p>
            <a:pPr>
              <a:defRPr sz="1400" b="0" i="0">
                <a:solidFill>
                  <a:srgbClr val="1F2937"/>
                </a:solidFill>
                <a:latin typeface="Plus Jakarta Sans"/>
              </a:defRPr>
            </a:pPr>
            <a:r>
              <a:t>"Was your problem actually resolved?"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21488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 i="0">
                <a:solidFill>
                  <a:srgbClr val="CCB252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429000"/>
            <a:ext cx="228600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YES → Closed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9503" y="353872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67001A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08376" y="3429000"/>
            <a:ext cx="228600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NO → Reopen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53872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CCB252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22392" y="3429000"/>
            <a:ext cx="228600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Escalate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7536" y="353872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CCB252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36408" y="3429000"/>
            <a:ext cx="228600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Continue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10/26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 i="0">
                <a:solidFill>
                  <a:srgbClr val="67001A"/>
                </a:solidFill>
                <a:latin typeface="Plus Jakarta Sans"/>
              </a:defRPr>
            </a:pPr>
            <a:r>
              <a:t>The goal is not more complaints. The goal is better villages.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65760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Village Development Score</a:t>
            </a:r>
          </a:p>
          <a:p>
            <a:pPr>
              <a:defRPr sz="2800" b="0" i="0">
                <a:solidFill>
                  <a:srgbClr val="1F2937"/>
                </a:solidFill>
                <a:latin typeface="Plus Jakarta Sans"/>
              </a:defRPr>
            </a:pPr>
            <a:r>
              <a:t>82 / 100</a:t>
            </a:r>
            <a:br/>
            <a:r>
              <a:t>↑ 7% vs prior period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337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C98A00"/>
                </a:solidFill>
                <a:latin typeface="Plus Jakarta Sans"/>
              </a:defRPr>
            </a:pPr>
            <a:r>
              <a:t>ILLUSTRATIVE DEMO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508760"/>
            <a:ext cx="201168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Water: 91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08760"/>
            <a:ext cx="201168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Roads: 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508760"/>
            <a:ext cx="201168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Sanitation: 84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286000"/>
            <a:ext cx="201168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Electricity: 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286000"/>
            <a:ext cx="201168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Welfare: 76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286000"/>
            <a:ext cx="201168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Resolution: 80</a:t>
            </a:r>
          </a:p>
        </p:txBody>
      </p:sp>
      <p:pic>
        <p:nvPicPr>
          <p:cNvPr id="12" name="Picture 11" descr="08-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246120"/>
            <a:ext cx="6858000" cy="2606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0" y="2990087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008A3B"/>
                </a:solidFill>
                <a:latin typeface="Plus Jakarta Sans"/>
              </a:defRPr>
            </a:pPr>
            <a:r>
              <a:t>WORKING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11/26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67001A"/>
                </a:solidFill>
                <a:latin typeface="Plus Jakarta Sans"/>
              </a:defRPr>
            </a:pPr>
            <a:r>
              <a:t>One model can connect the state from village to district.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25880"/>
            <a:ext cx="320040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TELANGANA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435607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64748B"/>
                </a:solidFill>
                <a:latin typeface="Plus Jakarta Sans"/>
              </a:defRPr>
            </a:pPr>
            <a:r>
              <a:t>State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194767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 i="0">
                <a:solidFill>
                  <a:srgbClr val="CCB252"/>
                </a:solidFill>
                <a:latin typeface="Plus Jakarta Sans"/>
              </a:defRPr>
            </a:pPr>
            <a: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75688"/>
            <a:ext cx="320040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DISTRICT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85416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64748B"/>
                </a:solidFill>
                <a:latin typeface="Plus Jakarta Sans"/>
              </a:defRPr>
            </a:pPr>
            <a:r>
              <a:t>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26974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 i="0">
                <a:solidFill>
                  <a:srgbClr val="CCB252"/>
                </a:solidFill>
                <a:latin typeface="Plus Jakarta Sans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825496"/>
            <a:ext cx="320040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MANDAL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93522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64748B"/>
                </a:solidFill>
                <a:latin typeface="Plus Jakarta Sans"/>
              </a:defRPr>
            </a:pPr>
            <a:r>
              <a:t>Pending issues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344728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 i="0">
                <a:solidFill>
                  <a:srgbClr val="CCB252"/>
                </a:solidFill>
                <a:latin typeface="Plus Jakarta Sans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575303"/>
            <a:ext cx="320040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VILLAGE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685031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64748B"/>
                </a:solidFill>
                <a:latin typeface="Plus Jakarta Sans"/>
              </a:defRPr>
            </a:pPr>
            <a:r>
              <a:t>Development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4197096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 i="0">
                <a:solidFill>
                  <a:srgbClr val="CCB252"/>
                </a:solidFill>
                <a:latin typeface="Plus Jakarta Sans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325112"/>
            <a:ext cx="320040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348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64748B"/>
                </a:solidFill>
                <a:latin typeface="Plus Jakarta Sans"/>
              </a:defRPr>
            </a:pPr>
            <a:r>
              <a:t>Complaints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4946903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 i="0">
                <a:solidFill>
                  <a:srgbClr val="CCB252"/>
                </a:solidFill>
                <a:latin typeface="Plus Jakarta Sans"/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5074920"/>
            <a:ext cx="320040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ISSUE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1846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64748B"/>
                </a:solidFill>
                <a:latin typeface="Plus Jakarta Sans"/>
              </a:defRPr>
            </a:pPr>
            <a:r>
              <a:t>Individual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12/26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67001A"/>
                </a:solidFill>
                <a:latin typeface="Plus Jakarta Sans"/>
              </a:defRPr>
            </a:pPr>
            <a:r>
              <a:t>When something is urgent, help should be one tap away.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4688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C62828"/>
                </a:solidFill>
                <a:latin typeface="Plus Jakarta Sans"/>
              </a:defRPr>
            </a:pPr>
            <a:r>
              <a:t>Police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417320"/>
            <a:ext cx="24688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C62828"/>
                </a:solidFill>
                <a:latin typeface="Plus Jakarta Sans"/>
              </a:defRPr>
            </a:pPr>
            <a:r>
              <a:t>Ambulance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417320"/>
            <a:ext cx="24688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C62828"/>
                </a:solidFill>
                <a:latin typeface="Plus Jakarta Sans"/>
              </a:defRPr>
            </a:pPr>
            <a:r>
              <a:t>Fire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417320"/>
            <a:ext cx="24688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C62828"/>
                </a:solidFill>
                <a:latin typeface="Plus Jakarta Sans"/>
              </a:defRPr>
            </a:pPr>
            <a:r>
              <a:t>Hospital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514600"/>
            <a:ext cx="246888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Water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514600"/>
            <a:ext cx="246888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Electricity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514600"/>
            <a:ext cx="246888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Panchayat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9792" y="1216152"/>
            <a:ext cx="3877056" cy="4882896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98280" y="1289304"/>
            <a:ext cx="640080" cy="109728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0" y="1325880"/>
            <a:ext cx="365760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4-emergency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371600"/>
            <a:ext cx="3566160" cy="4572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35240" y="111556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008A3B"/>
                </a:solidFill>
                <a:latin typeface="Plus Jakarta Sans"/>
              </a:defRPr>
            </a:pPr>
            <a:r>
              <a:t>WORKING PROTOTYPE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520440"/>
            <a:ext cx="658368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400" b="0" i="0">
                <a:solidFill>
                  <a:srgbClr val="1F2937"/>
                </a:solidFill>
                <a:latin typeface="Plus Jakarta Sans"/>
              </a:defRPr>
            </a:pPr>
            <a:r>
              <a:t>Location: District · Mandal · Village</a:t>
            </a:r>
            <a:br/>
            <a:r>
              <a:t>Production requires verified official directories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13/26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67001A"/>
                </a:solidFill>
                <a:latin typeface="Plus Jakarta Sans"/>
              </a:defRPr>
            </a:pPr>
            <a:r>
              <a:t>Give every village a trusted information channel.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303520" cy="4114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GRAMSEVA ANNOUNCEMENTS</a:t>
            </a:r>
          </a:p>
          <a:p>
            <a:pPr>
              <a:defRPr sz="1400" b="0" i="0">
                <a:solidFill>
                  <a:srgbClr val="1F2937"/>
                </a:solidFill>
                <a:latin typeface="Plus Jakarta Sans"/>
              </a:defRPr>
            </a:pPr>
            <a:r>
              <a:t>Official village &amp; panchayat information</a:t>
            </a:r>
            <a:br/>
            <a:r>
              <a:t>Welfare camps · Emergency alerts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17320"/>
            <a:ext cx="5303520" cy="4114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2563EB"/>
                </a:solidFill>
                <a:latin typeface="Plus Jakarta Sans"/>
              </a:defRPr>
            </a:pPr>
            <a:r>
              <a:t>TELANGANA LIVE NEWS (External)</a:t>
            </a:r>
          </a:p>
          <a:p>
            <a:pPr>
              <a:defRPr sz="1400" b="0" i="0">
                <a:solidFill>
                  <a:srgbClr val="1F2937"/>
                </a:solidFill>
                <a:latin typeface="Plus Jakarta Sans"/>
              </a:defRPr>
            </a:pPr>
            <a:r>
              <a:t>External news with source attribution</a:t>
            </a:r>
            <a:br/>
            <a:r>
              <a:t>NOT government communication</a:t>
            </a:r>
          </a:p>
        </p:txBody>
      </p:sp>
      <p:pic>
        <p:nvPicPr>
          <p:cNvPr id="6" name="Picture 5" descr="10-n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657600"/>
            <a:ext cx="5029200" cy="1645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14/26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67001A"/>
                </a:solidFill>
                <a:latin typeface="Plus Jakarta Sans"/>
              </a:defRPr>
            </a:pPr>
            <a:r>
              <a:t>Finding a scheme should be easier than finding a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008A3B"/>
                </a:solidFill>
                <a:latin typeface="Plus Jakarta Sans"/>
              </a:defRPr>
            </a:pPr>
            <a:r>
              <a:t>CURRENT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50292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400" b="0" i="0">
                <a:solidFill>
                  <a:srgbClr val="1F2937"/>
                </a:solidFill>
                <a:latin typeface="Plus Jakarta Sans"/>
              </a:defRPr>
            </a:pPr>
            <a:r>
              <a:t>Citizens browse Telangana welfare scheme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432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C98A00"/>
                </a:solidFill>
                <a:latin typeface="Plus Jakarta Sans"/>
              </a:defRPr>
            </a:pPr>
            <a:r>
              <a:t>FUTURE DIRECTION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063240"/>
            <a:ext cx="160020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Citizen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03703" y="317296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67001A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22576" y="3063240"/>
            <a:ext cx="160020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17296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CCB252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50791" y="3063240"/>
            <a:ext cx="160020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Schemes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0136" y="317296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CCB252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79008" y="3063240"/>
            <a:ext cx="160020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8352" y="317296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CCB252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7224" y="3063240"/>
            <a:ext cx="160020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Apply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317296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CCB252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3063240"/>
            <a:ext cx="160020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Guidance</a:t>
            </a:r>
          </a:p>
        </p:txBody>
      </p:sp>
      <p:pic>
        <p:nvPicPr>
          <p:cNvPr id="18" name="Picture 17" descr="09-welf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303520" cy="411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17920" y="116128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008A3B"/>
                </a:solidFill>
                <a:latin typeface="Plus Jakarta Sans"/>
              </a:defRPr>
            </a:pPr>
            <a:r>
              <a:t>WORKING 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15/26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67001A"/>
                </a:solidFill>
                <a:latin typeface="Plus Jakarta Sans"/>
              </a:defRPr>
            </a:pPr>
            <a:r>
              <a:t>An AI assistant for village-level questions.</a:t>
            </a:r>
          </a:p>
          <a:p>
            <a:pPr>
              <a:spcBef>
                <a:spcPts val="600"/>
              </a:spcBef>
              <a:defRPr sz="1800" b="0" i="0">
                <a:solidFill>
                  <a:srgbClr val="64748B"/>
                </a:solidFill>
                <a:latin typeface="Plus Jakarta Sans"/>
              </a:defRPr>
            </a:pPr>
            <a:r>
              <a:t>Vikas Sahayak · వికాస్ సహాయక్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47548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"Report a water problem"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84248"/>
            <a:ext cx="47548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"What schemes may apply to me?"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551176"/>
            <a:ext cx="47548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"Where is my nearest PHC?"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118104"/>
            <a:ext cx="47548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"Show my pending complaints"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5472" y="1124712"/>
            <a:ext cx="4059936" cy="5157216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15400" y="1197864"/>
            <a:ext cx="640080" cy="109728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0" y="1234440"/>
            <a:ext cx="384048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-vikas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280160"/>
            <a:ext cx="3749040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60920" y="10241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008A3B"/>
                </a:solidFill>
                <a:latin typeface="Plus Jakarta Sans"/>
              </a:defRPr>
            </a:pPr>
            <a:r>
              <a:t>WORKING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572000"/>
            <a:ext cx="10789920" cy="5029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400" b="0" i="0">
                <a:solidFill>
                  <a:srgbClr val="1F2937"/>
                </a:solidFill>
                <a:latin typeface="Plus Jakarta Sans"/>
              </a:defRPr>
            </a:pPr>
            <a:r>
              <a:t>AI assists citizens; it does not replace official decision-making.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16/26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67001A"/>
                </a:solidFill>
                <a:latin typeface="Plus Jakarta Sans"/>
              </a:defRPr>
            </a:pPr>
            <a:r>
              <a:t>One platform. Multiple citizen needs.</a:t>
            </a:r>
          </a:p>
        </p:txBody>
      </p:sp>
      <p:sp>
        <p:nvSpPr>
          <p:cNvPr id="4" name="Oval 3"/>
          <p:cNvSpPr/>
          <p:nvPr/>
        </p:nvSpPr>
        <p:spPr>
          <a:xfrm>
            <a:off x="5074920" y="2606040"/>
            <a:ext cx="1828800" cy="1828800"/>
          </a:xfrm>
          <a:prstGeom prst="ellipse">
            <a:avLst/>
          </a:prstGeom>
          <a:solidFill>
            <a:srgbClr val="6700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 i="0">
                <a:solidFill>
                  <a:srgbClr val="FFFFFF"/>
                </a:solidFill>
                <a:latin typeface="Plus Jakarta Sans"/>
              </a:defRPr>
            </a:pPr>
            <a:r>
              <a:t>GRAMSEVA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1463040"/>
            <a:ext cx="155448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Grievances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75104" y="1998683"/>
            <a:ext cx="155448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Panchayat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3291840"/>
            <a:ext cx="155448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Welfare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75104" y="4584996"/>
            <a:ext cx="155448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Emergency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5120640"/>
            <a:ext cx="155448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News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9055" y="4584996"/>
            <a:ext cx="155448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79" y="3291840"/>
            <a:ext cx="155448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9055" y="1998683"/>
            <a:ext cx="155448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Citizen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17/26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67001A"/>
                </a:solidFill>
                <a:latin typeface="Plus Jakarta Sans"/>
              </a:defRPr>
            </a:pPr>
            <a:r>
              <a:t>Cloud-native architecture designed for modular growth.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417320"/>
            <a:ext cx="43891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Citizen / Official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06440" y="2130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CCB252"/>
                </a:solidFill>
                <a:latin typeface="Plus Jakarta Sans"/>
              </a:defRPr>
            </a:pPr>
            <a: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2286000"/>
            <a:ext cx="43891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GramSeva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2999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CCB252"/>
                </a:solidFill>
                <a:latin typeface="Plus Jakarta Sans"/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3154680"/>
            <a:ext cx="43891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386791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CCB252"/>
                </a:solidFill>
                <a:latin typeface="Plus Jakarta Sans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4023360"/>
            <a:ext cx="43891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Cloud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473659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CCB252"/>
                </a:solidFill>
                <a:latin typeface="Plus Jakarta Sans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4892040"/>
            <a:ext cx="43891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Database + File Storage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417320"/>
            <a:ext cx="2926080" cy="4114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Stack</a:t>
            </a:r>
          </a:p>
          <a:p>
            <a:pPr>
              <a:defRPr sz="1300" b="0" i="0">
                <a:solidFill>
                  <a:srgbClr val="1F2937"/>
                </a:solidFill>
                <a:latin typeface="Plus Jakarta Sans"/>
              </a:defRPr>
            </a:pPr>
            <a:r>
              <a:t>React · TypeScript</a:t>
            </a:r>
            <a:br/>
            <a:r>
              <a:t>Hono · Cloudflare Workers</a:t>
            </a:r>
            <a:br/>
            <a:r>
              <a:t>D1 · R2</a:t>
            </a:r>
            <a:br/>
            <a:r>
              <a:t>OAuth · Zod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18/26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67001A"/>
                </a:solidFill>
                <a:latin typeface="Plus Jakarta Sans"/>
              </a:defRPr>
            </a:pPr>
            <a:r>
              <a:t>Digital governance requires trust as much as technology.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29184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Role-based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417320"/>
            <a:ext cx="329184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Audit trail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1417320"/>
            <a:ext cx="329184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Data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68880"/>
            <a:ext cx="329184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Privacy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468880"/>
            <a:ext cx="329184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Verified information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2468880"/>
            <a:ext cx="329184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Secure authentication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794760"/>
            <a:ext cx="10789920" cy="640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400" b="0" i="0">
                <a:solidFill>
                  <a:srgbClr val="1F2937"/>
                </a:solidFill>
                <a:latin typeface="Plus Jakarta Sans"/>
              </a:defRPr>
            </a:pPr>
            <a:r>
              <a:t>Production deployment would require formal security, privacy and governance review.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19/26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67001A"/>
                </a:solidFill>
                <a:latin typeface="Plus Jakarta Sans"/>
              </a:defRPr>
            </a:pPr>
            <a:r>
              <a:t>Start with one village. Scale only after proving the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011680"/>
            <a:ext cx="228600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Village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9503" y="212140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67001A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08376" y="2011680"/>
            <a:ext cx="228600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Mandal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12140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CCB252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22392" y="2011680"/>
            <a:ext cx="228600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District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7536" y="212140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CCB252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36408" y="2011680"/>
            <a:ext cx="228600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200400"/>
            <a:ext cx="1078992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400" b="0" i="0">
                <a:solidFill>
                  <a:srgbClr val="1F2937"/>
                </a:solidFill>
                <a:latin typeface="Plus Jakarta Sans"/>
              </a:defRPr>
            </a:pPr>
            <a:r>
              <a:t>Location model supports District · Mandal · Village · Ward</a:t>
            </a:r>
            <a:br/>
            <a:r>
              <a:t>Formal load testing not yet 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20/26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 i="0">
                <a:solidFill>
                  <a:srgbClr val="67001A"/>
                </a:solidFill>
                <a:latin typeface="Plus Jakarta Sans"/>
              </a:defRPr>
            </a:pPr>
            <a:r>
              <a:t>A focused pilot can turn the prototype into measurable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PHASE 1 — 1–3 villages</a:t>
            </a:r>
          </a:p>
          <a:p>
            <a:pPr>
              <a:defRPr sz="1400" b="0" i="0">
                <a:solidFill>
                  <a:srgbClr val="1F2937"/>
                </a:solidFill>
                <a:latin typeface="Plus Jakarta Sans"/>
              </a:defRPr>
            </a:pPr>
            <a:r>
              <a:t>Validate adoption · workflow · SLA · emergency · welfare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423160"/>
            <a:ext cx="1097280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PHASE 2 — Selected mandal</a:t>
            </a:r>
          </a:p>
          <a:p>
            <a:pPr>
              <a:defRPr sz="1400" b="0" i="0">
                <a:solidFill>
                  <a:srgbClr val="1F2937"/>
                </a:solidFill>
                <a:latin typeface="Plus Jakarta Sans"/>
              </a:defRPr>
            </a:pPr>
            <a:r>
              <a:t>Measure resolution time · satisfaction · workload · usage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520439"/>
            <a:ext cx="1097280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PHASE 3 — District evaluation</a:t>
            </a:r>
          </a:p>
          <a:p>
            <a:pPr>
              <a:defRPr sz="1400" b="0" i="0">
                <a:solidFill>
                  <a:srgbClr val="1F2937"/>
                </a:solidFill>
                <a:latin typeface="Plus Jakarta Sans"/>
              </a:defRPr>
            </a:pPr>
            <a:r>
              <a:t>Assess scalability · integration · governance ·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617720"/>
            <a:ext cx="1097280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PHASE 4 — State consideration</a:t>
            </a:r>
          </a:p>
          <a:p>
            <a:pPr>
              <a:defRPr sz="1400" b="0" i="0">
                <a:solidFill>
                  <a:srgbClr val="1F2937"/>
                </a:solidFill>
                <a:latin typeface="Plus Jakarta Sans"/>
              </a:defRPr>
            </a:pPr>
            <a:r>
              <a:t>Only after rigorous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21/26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67001A"/>
                </a:solidFill>
                <a:latin typeface="Plus Jakarta Sans"/>
              </a:defRPr>
            </a:pPr>
            <a:r>
              <a:t>Measure outcomes, not activity.</a:t>
            </a:r>
          </a:p>
          <a:p>
            <a:pPr>
              <a:spcBef>
                <a:spcPts val="600"/>
              </a:spcBef>
              <a:defRPr sz="1800" b="0" i="0">
                <a:solidFill>
                  <a:srgbClr val="64748B"/>
                </a:solidFill>
                <a:latin typeface="Plus Jakarta Sans"/>
              </a:defRPr>
            </a:pPr>
            <a:r>
              <a:t>Proposed pilot KPIs — no fabricated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260604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Citizen adoption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79" y="1508760"/>
            <a:ext cx="260604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Acknowledgement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08760"/>
            <a:ext cx="260604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Resolution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19" y="1508760"/>
            <a:ext cx="260604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SLA compliance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260604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Citizen-confirmed resolution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2286000"/>
            <a:ext cx="260604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Repeat complaints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286000"/>
            <a:ext cx="260604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Satisfaction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19" y="2286000"/>
            <a:ext cx="260604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Welfare 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22/26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67001A"/>
                </a:solidFill>
                <a:latin typeface="Plus Jakarta Sans"/>
              </a:defRPr>
            </a:pPr>
            <a:r>
              <a:t>What works today — and what requires partnership.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703320" cy="4754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008A3B"/>
                </a:solidFill>
                <a:latin typeface="Plus Jakarta Sans"/>
              </a:defRPr>
            </a:pPr>
            <a:r>
              <a:t>WORKING PROTOTYPE</a:t>
            </a:r>
          </a:p>
          <a:p>
            <a:pPr>
              <a:defRPr sz="1100" b="0" i="0">
                <a:solidFill>
                  <a:srgbClr val="1F2937"/>
                </a:solidFill>
                <a:latin typeface="Plus Jakarta Sans"/>
              </a:defRPr>
            </a:pPr>
            <a:r>
              <a:t>• Grievances</a:t>
            </a:r>
          </a:p>
          <a:p>
            <a:pPr>
              <a:defRPr sz="1100" b="0" i="0">
                <a:solidFill>
                  <a:srgbClr val="1F2937"/>
                </a:solidFill>
                <a:latin typeface="Plus Jakarta Sans"/>
              </a:defRPr>
            </a:pPr>
            <a:r>
              <a:t>• Telangana geography</a:t>
            </a:r>
          </a:p>
          <a:p>
            <a:pPr>
              <a:defRPr sz="1100" b="0" i="0">
                <a:solidFill>
                  <a:srgbClr val="1F2937"/>
                </a:solidFill>
                <a:latin typeface="Plus Jakarta Sans"/>
              </a:defRPr>
            </a:pPr>
            <a:r>
              <a:t>• Welfare hub</a:t>
            </a:r>
          </a:p>
          <a:p>
            <a:pPr>
              <a:defRPr sz="1100" b="0" i="0">
                <a:solidFill>
                  <a:srgbClr val="1F2937"/>
                </a:solidFill>
                <a:latin typeface="Plus Jakarta Sans"/>
              </a:defRPr>
            </a:pPr>
            <a:r>
              <a:t>• AI assistant</a:t>
            </a:r>
          </a:p>
          <a:p>
            <a:pPr>
              <a:defRPr sz="1100" b="0" i="0">
                <a:solidFill>
                  <a:srgbClr val="1F2937"/>
                </a:solidFill>
                <a:latin typeface="Plus Jakarta Sans"/>
              </a:defRPr>
            </a:pPr>
            <a:r>
              <a:t>• Official dashboard</a:t>
            </a:r>
          </a:p>
          <a:p>
            <a:pPr>
              <a:defRPr sz="1100" b="0" i="0">
                <a:solidFill>
                  <a:srgbClr val="1F2937"/>
                </a:solidFill>
                <a:latin typeface="Plus Jakarta Sans"/>
              </a:defRPr>
            </a:pPr>
            <a:r>
              <a:t>• SLA / timeline</a:t>
            </a:r>
          </a:p>
          <a:p>
            <a:pPr>
              <a:defRPr sz="1100" b="0" i="0">
                <a:solidFill>
                  <a:srgbClr val="1F2937"/>
                </a:solidFill>
                <a:latin typeface="Plus Jakarta Sans"/>
              </a:defRPr>
            </a:pPr>
            <a:r>
              <a:t>• Emergency</a:t>
            </a:r>
          </a:p>
          <a:p>
            <a:pPr>
              <a:defRPr sz="1100" b="0" i="0">
                <a:solidFill>
                  <a:srgbClr val="1F2937"/>
                </a:solidFill>
                <a:latin typeface="Plus Jakarta Sans"/>
              </a:defRPr>
            </a:pPr>
            <a:r>
              <a:t>• News</a:t>
            </a:r>
          </a:p>
          <a:p>
            <a:pPr>
              <a:defRPr sz="1100" b="0" i="0">
                <a:solidFill>
                  <a:srgbClr val="1F2937"/>
                </a:solidFill>
                <a:latin typeface="Plus Jakarta Sans"/>
              </a:defRPr>
            </a:pPr>
            <a:r>
              <a:t>• Analytics</a:t>
            </a:r>
          </a:p>
          <a:p>
            <a:pPr>
              <a:defRPr sz="1100" b="0" i="0">
                <a:solidFill>
                  <a:srgbClr val="1F2937"/>
                </a:solidFill>
                <a:latin typeface="Plus Jakarta Sans"/>
              </a:defRPr>
            </a:pPr>
            <a:r>
              <a:t>• Cloud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25880"/>
            <a:ext cx="3703320" cy="4754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9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C98A00"/>
                </a:solidFill>
                <a:latin typeface="Plus Jakarta Sans"/>
              </a:defRPr>
            </a:pPr>
            <a:r>
              <a:t>PRE-PRODUCTION</a:t>
            </a:r>
          </a:p>
          <a:p>
            <a:pPr>
              <a:defRPr sz="1100" b="0" i="0">
                <a:solidFill>
                  <a:srgbClr val="1F2937"/>
                </a:solidFill>
                <a:latin typeface="Plus Jakarta Sans"/>
              </a:defRPr>
            </a:pPr>
            <a:r>
              <a:t>• Verified emergency data</a:t>
            </a:r>
          </a:p>
          <a:p>
            <a:pPr>
              <a:defRPr sz="1100" b="0" i="0">
                <a:solidFill>
                  <a:srgbClr val="1F2937"/>
                </a:solidFill>
                <a:latin typeface="Plus Jakarta Sans"/>
              </a:defRPr>
            </a:pPr>
            <a:r>
              <a:t>• AI validation</a:t>
            </a:r>
          </a:p>
          <a:p>
            <a:pPr>
              <a:defRPr sz="1100" b="0" i="0">
                <a:solidFill>
                  <a:srgbClr val="1F2937"/>
                </a:solidFill>
                <a:latin typeface="Plus Jakarta Sans"/>
              </a:defRPr>
            </a:pPr>
            <a:r>
              <a:t>• Bilingual completeness</a:t>
            </a:r>
          </a:p>
          <a:p>
            <a:pPr>
              <a:defRPr sz="1100" b="0" i="0">
                <a:solidFill>
                  <a:srgbClr val="1F2937"/>
                </a:solidFill>
                <a:latin typeface="Plus Jakarta Sans"/>
              </a:defRPr>
            </a:pPr>
            <a:r>
              <a:t>• Security review</a:t>
            </a:r>
          </a:p>
          <a:p>
            <a:pPr>
              <a:defRPr sz="1100" b="0" i="0">
                <a:solidFill>
                  <a:srgbClr val="1F2937"/>
                </a:solidFill>
                <a:latin typeface="Plus Jakarta Sans"/>
              </a:defRPr>
            </a:pPr>
            <a:r>
              <a:t>• Production data setup</a:t>
            </a:r>
          </a:p>
          <a:p>
            <a:pPr>
              <a:defRPr sz="1100" b="0" i="0">
                <a:solidFill>
                  <a:srgbClr val="1F2937"/>
                </a:solidFill>
                <a:latin typeface="Plus Jakarta Sans"/>
              </a:defRPr>
            </a:pPr>
            <a:r>
              <a:t>• Mobile packaging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325880"/>
            <a:ext cx="3703320" cy="4754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2563EB"/>
                </a:solidFill>
                <a:latin typeface="Plus Jakarta Sans"/>
              </a:defRPr>
            </a:pPr>
            <a:r>
              <a:t>FUTURE / INTEGRATION</a:t>
            </a:r>
          </a:p>
          <a:p>
            <a:pPr>
              <a:defRPr sz="1100" b="0" i="0">
                <a:solidFill>
                  <a:srgbClr val="1F2937"/>
                </a:solidFill>
                <a:latin typeface="Plus Jakarta Sans"/>
              </a:defRPr>
            </a:pPr>
            <a:r>
              <a:t>• Govt grievance integration</a:t>
            </a:r>
          </a:p>
          <a:p>
            <a:pPr>
              <a:defRPr sz="1100" b="0" i="0">
                <a:solidFill>
                  <a:srgbClr val="1F2937"/>
                </a:solidFill>
                <a:latin typeface="Plus Jakarta Sans"/>
              </a:defRPr>
            </a:pPr>
            <a:r>
              <a:t>• Department APIs</a:t>
            </a:r>
          </a:p>
          <a:p>
            <a:pPr>
              <a:defRPr sz="1100" b="0" i="0">
                <a:solidFill>
                  <a:srgbClr val="1F2937"/>
                </a:solidFill>
                <a:latin typeface="Plus Jakarta Sans"/>
              </a:defRPr>
            </a:pPr>
            <a:r>
              <a:t>• Official data sources</a:t>
            </a:r>
          </a:p>
          <a:p>
            <a:pPr>
              <a:defRPr sz="1100" b="0" i="0">
                <a:solidFill>
                  <a:srgbClr val="1F2937"/>
                </a:solidFill>
                <a:latin typeface="Plus Jakarta Sans"/>
              </a:defRPr>
            </a:pPr>
            <a:r>
              <a:t>• Notifications</a:t>
            </a:r>
          </a:p>
          <a:p>
            <a:pPr>
              <a:defRPr sz="1100" b="0" i="0">
                <a:solidFill>
                  <a:srgbClr val="1F2937"/>
                </a:solidFill>
                <a:latin typeface="Plus Jakarta Sans"/>
              </a:defRPr>
            </a:pPr>
            <a:r>
              <a:t>• Live disaster feeds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23/26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67001A"/>
                </a:solidFill>
                <a:latin typeface="Instrument Serif"/>
              </a:defRPr>
            </a:pPr>
            <a:r>
              <a:t>Why GramSeva?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 i="0">
                <a:solidFill>
                  <a:srgbClr val="1F2937"/>
                </a:solidFill>
                <a:latin typeface="Plus Jakarta Sans"/>
              </a:defRPr>
            </a:pPr>
            <a:r>
              <a:t>1.  Telangana-first village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 i="0">
                <a:solidFill>
                  <a:srgbClr val="1F2937"/>
                </a:solidFill>
                <a:latin typeface="Plus Jakarta Sans"/>
              </a:defRPr>
            </a:pPr>
            <a:r>
              <a:t>2.  Citizen-first digital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 i="0">
                <a:solidFill>
                  <a:srgbClr val="1F2937"/>
                </a:solidFill>
                <a:latin typeface="Plus Jakarta Sans"/>
              </a:defRPr>
            </a:pPr>
            <a:r>
              <a:t>3.  End-to-end grievance accountability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 i="0">
                <a:solidFill>
                  <a:srgbClr val="1F2937"/>
                </a:solidFill>
                <a:latin typeface="Plus Jakarta Sans"/>
              </a:defRPr>
            </a:pPr>
            <a:r>
              <a:t>4.  Village-level visibility 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1772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 i="0">
                <a:solidFill>
                  <a:srgbClr val="1F2937"/>
                </a:solidFill>
                <a:latin typeface="Plus Jakarta Sans"/>
              </a:defRPr>
            </a:pPr>
            <a:r>
              <a:t>5.  Designed for future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24/26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70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9728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 i="0">
                <a:solidFill>
                  <a:srgbClr val="FFFFFF"/>
                </a:solidFill>
                <a:latin typeface="Instrument Serif"/>
              </a:defRPr>
            </a:pPr>
            <a:r>
              <a:t>GRAMSEVA</a:t>
            </a:r>
          </a:p>
          <a:p>
            <a:pPr>
              <a:spcBef>
                <a:spcPts val="2000"/>
              </a:spcBef>
              <a:defRPr sz="2200" b="0" i="0">
                <a:solidFill>
                  <a:srgbClr val="FFFFFF"/>
                </a:solidFill>
                <a:latin typeface="Plus Jakarta Sans"/>
              </a:defRPr>
            </a:pPr>
            <a:r>
              <a:t>"Every village has problems.</a:t>
            </a:r>
            <a:br/>
            <a:r>
              <a:t>The opportunity is to make every problem visible, actionable and measurable."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4434840"/>
            <a:ext cx="1828800" cy="566928"/>
          </a:xfrm>
          <a:prstGeom prst="roundRect">
            <a:avLst/>
          </a:prstGeom>
          <a:solidFill>
            <a:srgbClr val="550015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Citizen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2303" y="454456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67001A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24328" y="4434840"/>
            <a:ext cx="1828800" cy="566928"/>
          </a:xfrm>
          <a:prstGeom prst="roundRect">
            <a:avLst/>
          </a:prstGeom>
          <a:solidFill>
            <a:srgbClr val="550015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Panchayat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62272" y="454456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CCB252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54296" y="4434840"/>
            <a:ext cx="1828800" cy="566928"/>
          </a:xfrm>
          <a:prstGeom prst="roundRect">
            <a:avLst/>
          </a:prstGeom>
          <a:solidFill>
            <a:srgbClr val="550015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Mandal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454456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CCB252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84264" y="4434840"/>
            <a:ext cx="1828800" cy="566928"/>
          </a:xfrm>
          <a:prstGeom prst="roundRect">
            <a:avLst/>
          </a:prstGeom>
          <a:solidFill>
            <a:srgbClr val="550015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District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22208" y="4544568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CCB252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14232" y="4434840"/>
            <a:ext cx="1828800" cy="566928"/>
          </a:xfrm>
          <a:prstGeom prst="roundRect">
            <a:avLst/>
          </a:prstGeom>
          <a:solidFill>
            <a:srgbClr val="550015"/>
          </a:solidFill>
          <a:ln w="15875">
            <a:solidFill>
              <a:srgbClr val="CCB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486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 i="1">
                <a:solidFill>
                  <a:srgbClr val="CCB252"/>
                </a:solidFill>
                <a:latin typeface="Plus Jakarta Sans"/>
              </a:defRPr>
            </a:pPr>
            <a:r>
              <a:t>"Report. Resolve. Inform. Empower."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89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0">
                <a:solidFill>
                  <a:srgbClr val="CCB252"/>
                </a:solidFill>
                <a:latin typeface="Plus Jakarta Sans"/>
              </a:defRPr>
            </a:pPr>
            <a:r>
              <a:t>PROTOTYPE / DEMONSTRATION CONCEPT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— proposed digital village governance platform for Telangana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25/26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7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67001A"/>
                </a:solidFill>
                <a:latin typeface="Plus Jakarta Sans"/>
              </a:defRPr>
            </a:pPr>
            <a:r>
              <a:t>Executive Summary</a:t>
            </a:r>
          </a:p>
          <a:p>
            <a:pPr>
              <a:spcBef>
                <a:spcPts val="600"/>
              </a:spcBef>
              <a:defRPr sz="1800" b="0" i="0">
                <a:solidFill>
                  <a:srgbClr val="64748B"/>
                </a:solidFill>
                <a:latin typeface="Plus Jakarta Sans"/>
              </a:defRPr>
            </a:pPr>
            <a:r>
              <a:t>Appendix — one-page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182880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WHAT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06040" y="1417320"/>
            <a:ext cx="877824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Digital village governance platform for Telangana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82880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WHY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2194560"/>
            <a:ext cx="877824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Improve citizen access, grievance visibility and village-level coordination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971800"/>
            <a:ext cx="182880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HOW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2971800"/>
            <a:ext cx="877824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Citizen + Panchayat + administrative workflow in one experience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749039"/>
            <a:ext cx="182880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CURRENT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3749039"/>
            <a:ext cx="877824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Working prototype with grievances, welfare, emergency, AI, 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526279"/>
            <a:ext cx="182880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NEXT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4526279"/>
            <a:ext cx="877824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Focused pilot in 1–3 villages with measurable KPIs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303519"/>
            <a:ext cx="182880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7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67001A"/>
                </a:solidFill>
                <a:latin typeface="Plus Jakarta Sans"/>
              </a:defRPr>
            </a:pPr>
            <a:r>
              <a:t>FUTURE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5303519"/>
            <a:ext cx="877824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300" b="1" i="0">
                <a:solidFill>
                  <a:srgbClr val="1F2937"/>
                </a:solidFill>
                <a:latin typeface="Plus Jakarta Sans"/>
              </a:defRPr>
            </a:pPr>
            <a:r>
              <a:t>Integration with authorized government systems after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GramSeva prototype · Not an official Telangana Government product · Demo data labelled where shown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  <a:latin typeface="Plus Jakarta Sans"/>
              </a:defRPr>
            </a:pPr>
            <a:r>
              <a:t>26/26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